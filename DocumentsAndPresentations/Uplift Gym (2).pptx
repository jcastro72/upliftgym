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314" r:id="rId6"/>
    <p:sldId id="311" r:id="rId7"/>
    <p:sldId id="315" r:id="rId8"/>
    <p:sldId id="316" r:id="rId9"/>
    <p:sldId id="317" r:id="rId10"/>
    <p:sldId id="318" r:id="rId11"/>
    <p:sldId id="319" r:id="rId12"/>
    <p:sldId id="306" r:id="rId13"/>
    <p:sldId id="30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200"/>
    <a:srgbClr val="0F253E"/>
    <a:srgbClr val="F8F6F5"/>
    <a:srgbClr val="ED8512"/>
    <a:srgbClr val="446992"/>
    <a:srgbClr val="AEC2D8"/>
    <a:srgbClr val="98432A"/>
    <a:srgbClr val="D84400"/>
    <a:srgbClr val="44678D"/>
    <a:srgbClr val="263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03" autoAdjust="0"/>
    <p:restoredTop sz="95634"/>
  </p:normalViewPr>
  <p:slideViewPr>
    <p:cSldViewPr snapToGrid="0" showGuides="1">
      <p:cViewPr>
        <p:scale>
          <a:sx n="41" d="100"/>
          <a:sy n="41" d="100"/>
        </p:scale>
        <p:origin x="446" y="950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F821-0C57-C0B9-6A24-98933A867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BB52F-33A7-F242-59AD-15FCEE79B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9C4D0-995D-8DA0-9949-00E47624B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63442-6C1D-DA47-2EE6-FC9AC9091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02242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661F0-02DA-F025-F38F-50A5BB95F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96DB5-158A-1720-9351-F168C5D01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90E24-B19C-19EF-F797-76A3215A6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C5E31-8B3B-6B49-B31D-B36B10BD7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26941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52A2D-0A35-3C74-E1D2-82323937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70BF2-F7C1-3D0C-B442-752F54075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C18AA-8BDD-D47A-CD98-0BAE053B3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AAF6D-8A75-B55A-D6D1-3F5358006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11989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EB0F-8B3E-AFB8-9B97-46AA55686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7608F-8AB5-8273-A0D3-B7E414493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7B4D5-424C-43FA-EC21-9F8507035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CFC2E-0774-5390-AC45-ED99FC32F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76718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81E5B-4AFA-CED6-7CC0-5AE68800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82E2C-D62D-15EA-FD5D-651601E4A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EE93A-4D5E-3692-32F8-BF7E60B6D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9E2F-3DD6-D03A-F040-AA3C3D9B9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1397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8E72-1D85-F794-58DE-E883EC92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1DCDB-DCA9-ADBB-B22D-6C4EEF371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432EB-A457-B3C6-4A04-FF4CAEFC2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9F2B8-A96D-27AD-0FAB-E95653511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98061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194E4-5310-21E1-2B9E-62B7B58C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AB457-7DE0-5206-D0F0-28E470F41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1CE28-4C01-8059-7BC9-025924857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D5148-D039-2D7E-529C-DE00BA28F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0042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BF61-7C2E-92DD-1A17-E53C8AD5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E6A69-556F-D1DE-091B-395D4AC84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80334-2DD3-C078-7904-61383A1C3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4328E-F2EA-0687-D6DD-A1998717B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2237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upliftgym.de/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073" y="787247"/>
            <a:ext cx="5338422" cy="1902166"/>
          </a:xfrm>
        </p:spPr>
        <p:txBody>
          <a:bodyPr/>
          <a:lstStyle/>
          <a:p>
            <a:r>
              <a:rPr lang="en-US" sz="8000" dirty="0"/>
              <a:t>IT Capstone </a:t>
            </a:r>
            <a:br>
              <a:rPr lang="en-US" sz="8000" dirty="0"/>
            </a:br>
            <a:r>
              <a:rPr lang="en-US" sz="8000" dirty="0"/>
              <a:t>Project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9073" y="3078012"/>
            <a:ext cx="7376739" cy="2992741"/>
          </a:xfrm>
        </p:spPr>
        <p:txBody>
          <a:bodyPr/>
          <a:lstStyle/>
          <a:p>
            <a:r>
              <a:rPr lang="en-US" sz="2800" b="1" dirty="0"/>
              <a:t>Team Members: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Antonio George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Bianca Guimaraes Barros Leal Santos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Jacob Castro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Muhammad Fotih Abdullaev</a:t>
            </a:r>
          </a:p>
          <a:p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252FF8-496A-346D-96F2-D8AC9A131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6678766" y="1131424"/>
            <a:ext cx="5338422" cy="4595151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EA8C2545-A33A-5016-307D-EAD7726BE55E}"/>
              </a:ext>
            </a:extLst>
          </p:cNvPr>
          <p:cNvSpPr txBox="1">
            <a:spLocks/>
          </p:cNvSpPr>
          <p:nvPr/>
        </p:nvSpPr>
        <p:spPr>
          <a:xfrm>
            <a:off x="7742736" y="5784971"/>
            <a:ext cx="3210482" cy="6743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6200"/>
                </a:solidFill>
              </a:rPr>
              <a:t>Milestone #3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D6CC-6E58-AAD3-2F99-4660C001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118F97A1-40D4-9E2D-01F9-334C1753A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231" y="812799"/>
            <a:ext cx="2729169" cy="1325563"/>
          </a:xfrm>
        </p:spPr>
        <p:txBody>
          <a:bodyPr anchor="ctr">
            <a:noAutofit/>
          </a:bodyPr>
          <a:lstStyle/>
          <a:p>
            <a:r>
              <a:rPr lang="en-US" sz="4800" dirty="0"/>
              <a:t>Prototype </a:t>
            </a:r>
            <a:br>
              <a:rPr lang="en-US" sz="4800" dirty="0"/>
            </a:br>
            <a:r>
              <a:rPr lang="en-US" sz="4800" dirty="0"/>
              <a:t>Overview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5CC75-5AA6-6AE1-687B-05F87DA78245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26BBB33-84DD-674C-F44A-1D6B4DADD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07D0AE-0CCB-AF43-E0E5-90A5AAA7F1A2}"/>
              </a:ext>
            </a:extLst>
          </p:cNvPr>
          <p:cNvSpPr txBox="1"/>
          <p:nvPr/>
        </p:nvSpPr>
        <p:spPr>
          <a:xfrm>
            <a:off x="471231" y="2405716"/>
            <a:ext cx="6522179" cy="2802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Functional prototype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Frontend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 </a:t>
            </a:r>
            <a:r>
              <a:rPr lang="en-US" sz="2400" dirty="0"/>
              <a:t>Backend connected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Booking and payment working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Full user flow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hlinkClick r:id="rId5"/>
              </a:rPr>
              <a:t>https://upliftgym.de/</a:t>
            </a:r>
            <a:r>
              <a:rPr lang="en-US" sz="2400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6AE609-8294-6F49-BA64-8C87FE8CD9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1042" y="812799"/>
            <a:ext cx="6920957" cy="473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9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6516-5F3E-43A9-0E70-FC7470E5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F1C3CB6-C41C-D1BC-018E-E8145F3BF29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5831" y="2085204"/>
            <a:ext cx="8154714" cy="4497841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All pages created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Booking flow works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Login and signup implemented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Navbar changes (login / user / logout)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Works on phone and computer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286607A-CAE6-C6CA-9AE0-248B2B7D9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354CD-DB5B-8E55-2F16-12D04A3F694B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altLang="zh-CN" dirty="0">
              <a:solidFill>
                <a:srgbClr val="F8F6F5"/>
              </a:solidFill>
            </a:endParaRPr>
          </a:p>
        </p:txBody>
      </p:sp>
      <p:sp>
        <p:nvSpPr>
          <p:cNvPr id="2" name="Title 30">
            <a:extLst>
              <a:ext uri="{FF2B5EF4-FFF2-40B4-BE49-F238E27FC236}">
                <a16:creationId xmlns:a16="http://schemas.microsoft.com/office/drawing/2014/main" id="{ED6F0CD7-DE5B-254A-C571-935CB5673358}"/>
              </a:ext>
            </a:extLst>
          </p:cNvPr>
          <p:cNvSpPr txBox="1">
            <a:spLocks/>
          </p:cNvSpPr>
          <p:nvPr/>
        </p:nvSpPr>
        <p:spPr>
          <a:xfrm>
            <a:off x="445831" y="795326"/>
            <a:ext cx="68718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Frontend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1455EA-0763-03E4-9B00-F63323FA8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830" y="0"/>
            <a:ext cx="5607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7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ACC0B-B86E-D3BE-C946-0F0171BB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A7C3613-02BF-9BCD-520C-DF555BA2BB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1231" y="2085204"/>
            <a:ext cx="8154714" cy="4497841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Single class – Payment required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Starter – 2 classes per week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Plus – 4 classes per week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Unlimited – No limit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System tracks bookings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Shows remaining classes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022E2A3-75ED-B21C-A1DC-97296489E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0863E-D1E7-DF27-557A-2E66F3AB30AA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altLang="zh-CN" dirty="0">
              <a:solidFill>
                <a:srgbClr val="F8F6F5"/>
              </a:solidFill>
            </a:endParaRPr>
          </a:p>
        </p:txBody>
      </p:sp>
      <p:sp>
        <p:nvSpPr>
          <p:cNvPr id="2" name="Title 30">
            <a:extLst>
              <a:ext uri="{FF2B5EF4-FFF2-40B4-BE49-F238E27FC236}">
                <a16:creationId xmlns:a16="http://schemas.microsoft.com/office/drawing/2014/main" id="{7A2C5CD0-5035-DC67-87E8-016B8F9BB723}"/>
              </a:ext>
            </a:extLst>
          </p:cNvPr>
          <p:cNvSpPr txBox="1">
            <a:spLocks/>
          </p:cNvSpPr>
          <p:nvPr/>
        </p:nvSpPr>
        <p:spPr>
          <a:xfrm>
            <a:off x="471231" y="795326"/>
            <a:ext cx="68718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Booking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93245-216F-D9E8-83C9-730E9C386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776" y="274955"/>
            <a:ext cx="5487166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9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E6CFC-958F-09A7-5A20-04A76F26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B5E2975-90E0-98EF-9B07-BFBEB5EED9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1231" y="2085204"/>
            <a:ext cx="8154714" cy="4497841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Payment system implemented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Form validation for all fields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Payment for single class or membership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Membership allows booking multiple classes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E955D4D-90C3-A449-5A79-60E61B6AA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57905-CC01-9B9E-A09E-E7E9FB3B9341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altLang="zh-CN" dirty="0">
              <a:solidFill>
                <a:srgbClr val="F8F6F5"/>
              </a:solidFill>
            </a:endParaRPr>
          </a:p>
        </p:txBody>
      </p:sp>
      <p:sp>
        <p:nvSpPr>
          <p:cNvPr id="2" name="Title 30">
            <a:extLst>
              <a:ext uri="{FF2B5EF4-FFF2-40B4-BE49-F238E27FC236}">
                <a16:creationId xmlns:a16="http://schemas.microsoft.com/office/drawing/2014/main" id="{A4BB8831-5EE0-E182-9864-5336CB3AC4D7}"/>
              </a:ext>
            </a:extLst>
          </p:cNvPr>
          <p:cNvSpPr txBox="1">
            <a:spLocks/>
          </p:cNvSpPr>
          <p:nvPr/>
        </p:nvSpPr>
        <p:spPr>
          <a:xfrm>
            <a:off x="471231" y="795326"/>
            <a:ext cx="68718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Payment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BD1A0-0BB9-D352-9FCE-11B1DB9BC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333" y="79137"/>
            <a:ext cx="5389724" cy="669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9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FA301-4C60-EC21-9BAC-51E76982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AA1B1D6-98EA-0A9F-E39F-2C470A762C9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1231" y="2085204"/>
            <a:ext cx="8154714" cy="4497841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Login and signup work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session maintained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Membership saved in account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Data stays after logout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784DC9F-E30B-8667-E52B-D01D97019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1CC7B-DB7C-9011-C868-50988F7A685E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altLang="zh-CN" dirty="0">
              <a:solidFill>
                <a:srgbClr val="F8F6F5"/>
              </a:solidFill>
            </a:endParaRPr>
          </a:p>
        </p:txBody>
      </p:sp>
      <p:sp>
        <p:nvSpPr>
          <p:cNvPr id="2" name="Title 30">
            <a:extLst>
              <a:ext uri="{FF2B5EF4-FFF2-40B4-BE49-F238E27FC236}">
                <a16:creationId xmlns:a16="http://schemas.microsoft.com/office/drawing/2014/main" id="{4DD86457-26A0-B381-2554-E5F7C287B0D6}"/>
              </a:ext>
            </a:extLst>
          </p:cNvPr>
          <p:cNvSpPr txBox="1">
            <a:spLocks/>
          </p:cNvSpPr>
          <p:nvPr/>
        </p:nvSpPr>
        <p:spPr>
          <a:xfrm>
            <a:off x="471231" y="795326"/>
            <a:ext cx="68718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User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65C41-695A-607C-3BCA-4717883AF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237" y="795326"/>
            <a:ext cx="6449325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78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6A4BE-CA84-10B6-4B4E-F0AB37DA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D523FB8-1F0F-377D-5B6A-E736FBBEF0E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1231" y="2118006"/>
            <a:ext cx="8154714" cy="4497841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MySQL database connected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Routes and controllers created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Booking and user queries added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Moving from test data to real data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CAC58DB-1D8D-9D04-65D2-81E545692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A320D-B94A-1147-3D85-A5ECDDAA6C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altLang="zh-CN" dirty="0">
              <a:solidFill>
                <a:srgbClr val="F8F6F5"/>
              </a:solidFill>
            </a:endParaRPr>
          </a:p>
        </p:txBody>
      </p:sp>
      <p:sp>
        <p:nvSpPr>
          <p:cNvPr id="2" name="Title 30">
            <a:extLst>
              <a:ext uri="{FF2B5EF4-FFF2-40B4-BE49-F238E27FC236}">
                <a16:creationId xmlns:a16="http://schemas.microsoft.com/office/drawing/2014/main" id="{5822DE85-EEEB-19AE-5320-A1B1AA390A42}"/>
              </a:ext>
            </a:extLst>
          </p:cNvPr>
          <p:cNvSpPr txBox="1">
            <a:spLocks/>
          </p:cNvSpPr>
          <p:nvPr/>
        </p:nvSpPr>
        <p:spPr>
          <a:xfrm>
            <a:off x="471231" y="828128"/>
            <a:ext cx="68718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Backend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69E55-462A-44E6-4D78-9CB7AE0247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222" b="19901"/>
          <a:stretch>
            <a:fillRect/>
          </a:stretch>
        </p:blipFill>
        <p:spPr>
          <a:xfrm>
            <a:off x="7096845" y="242153"/>
            <a:ext cx="3906777" cy="3034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27FC88-228F-205E-DE73-11FBC7F65A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3004"/>
          <a:stretch>
            <a:fillRect/>
          </a:stretch>
        </p:blipFill>
        <p:spPr>
          <a:xfrm>
            <a:off x="7096844" y="3404371"/>
            <a:ext cx="3906777" cy="299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3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25E2-3A8C-EC4E-68D0-C332D1EE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6B34583-D820-1D7D-8B49-C9431DB5BC4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96587" y="2085204"/>
            <a:ext cx="8154714" cy="4497841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Tested booking limits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Tested payment validation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Tested login/logout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Tested full booking flow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Tested UI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539F82D-FBDE-46E3-6EF1-74037ADF6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90D3D-CC57-C873-5C08-A9B389A58DF1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altLang="zh-CN" dirty="0">
              <a:solidFill>
                <a:srgbClr val="F8F6F5"/>
              </a:solidFill>
            </a:endParaRPr>
          </a:p>
        </p:txBody>
      </p:sp>
      <p:sp>
        <p:nvSpPr>
          <p:cNvPr id="2" name="Title 30">
            <a:extLst>
              <a:ext uri="{FF2B5EF4-FFF2-40B4-BE49-F238E27FC236}">
                <a16:creationId xmlns:a16="http://schemas.microsoft.com/office/drawing/2014/main" id="{3F96EB3F-DC85-0662-1824-861F7E642708}"/>
              </a:ext>
            </a:extLst>
          </p:cNvPr>
          <p:cNvSpPr txBox="1">
            <a:spLocks/>
          </p:cNvSpPr>
          <p:nvPr/>
        </p:nvSpPr>
        <p:spPr>
          <a:xfrm>
            <a:off x="396587" y="795326"/>
            <a:ext cx="68718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A69C5-5950-1EDE-8D69-A73C32FEC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314" y="569167"/>
            <a:ext cx="6629262" cy="571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5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5EFB6-6DF6-AF45-FE36-0C240EDB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E523CCD2-8EEE-629F-FA30-DE67EFC7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889" y="722266"/>
            <a:ext cx="4426222" cy="1325563"/>
          </a:xfrm>
        </p:spPr>
        <p:txBody>
          <a:bodyPr anchor="ctr">
            <a:normAutofit fontScale="90000"/>
          </a:bodyPr>
          <a:lstStyle/>
          <a:p>
            <a:r>
              <a:rPr lang="en-US" sz="5400" dirty="0"/>
              <a:t>Project Timeline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1FA86-C17E-65C0-7CC4-76D2DBDB6E8B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28F8A44-5A9B-97B3-242E-5224AC35D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DB56BD3-23DE-DC4C-F583-8A3019E56F87}"/>
              </a:ext>
            </a:extLst>
          </p:cNvPr>
          <p:cNvGrpSpPr/>
          <p:nvPr/>
        </p:nvGrpSpPr>
        <p:grpSpPr>
          <a:xfrm>
            <a:off x="0" y="2550411"/>
            <a:ext cx="12141092" cy="1956275"/>
            <a:chOff x="0" y="2550411"/>
            <a:chExt cx="10905443" cy="17571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013949-DD64-0D90-BF73-C7A6FC22C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6719"/>
            <a:stretch>
              <a:fillRect/>
            </a:stretch>
          </p:blipFill>
          <p:spPr>
            <a:xfrm>
              <a:off x="0" y="2550412"/>
              <a:ext cx="1619250" cy="175717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9844EF7-F85D-2C64-0ABF-90CC9343F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3834"/>
            <a:stretch>
              <a:fillRect/>
            </a:stretch>
          </p:blipFill>
          <p:spPr>
            <a:xfrm>
              <a:off x="1619250" y="2550411"/>
              <a:ext cx="9286193" cy="1757176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94F730B-A382-152A-9A6D-E2D84B8A5F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898" t="48807" r="69082" b="32405"/>
          <a:stretch>
            <a:fillRect/>
          </a:stretch>
        </p:blipFill>
        <p:spPr>
          <a:xfrm>
            <a:off x="2354317" y="3706906"/>
            <a:ext cx="409904" cy="3675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D0E8A1-5EE3-80F7-88BE-D2A1B372D5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898" t="48807" r="69082" b="32405"/>
          <a:stretch>
            <a:fillRect/>
          </a:stretch>
        </p:blipFill>
        <p:spPr>
          <a:xfrm>
            <a:off x="2354317" y="3923018"/>
            <a:ext cx="409904" cy="36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25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0DA9D0D-4DF9-89C7-BFEE-329D3AE83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044" y="5231900"/>
            <a:ext cx="5902912" cy="1543985"/>
          </a:xfrm>
        </p:spPr>
        <p:txBody>
          <a:bodyPr/>
          <a:lstStyle/>
          <a:p>
            <a:r>
              <a:rPr lang="en-US" sz="9600" dirty="0"/>
              <a:t>Thank you!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670-C952-F1E7-1588-9A68818FD59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4637B-8339-B7A0-91B7-3184FCBE7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3426789" y="618011"/>
            <a:ext cx="5338422" cy="459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282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8736</TotalTime>
  <Words>195</Words>
  <Application>Microsoft Office PowerPoint</Application>
  <PresentationFormat>Widescreen</PresentationFormat>
  <Paragraphs>67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等线</vt:lpstr>
      <vt:lpstr>Abadi</vt:lpstr>
      <vt:lpstr>Arial</vt:lpstr>
      <vt:lpstr>Calibri</vt:lpstr>
      <vt:lpstr>Posterama Text Black</vt:lpstr>
      <vt:lpstr>Posterama Text SemiBold</vt:lpstr>
      <vt:lpstr>Times New Roman</vt:lpstr>
      <vt:lpstr>Wingdings</vt:lpstr>
      <vt:lpstr>Custom​​</vt:lpstr>
      <vt:lpstr>IT Capstone  Project </vt:lpstr>
      <vt:lpstr>Prototype 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Timeline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Bianca Guimaraes Barros Leal Santos</dc:creator>
  <cp:lastModifiedBy>Bianca Guimaraes Barros Leal Santos</cp:lastModifiedBy>
  <cp:revision>17</cp:revision>
  <dcterms:created xsi:type="dcterms:W3CDTF">2026-02-03T00:29:10Z</dcterms:created>
  <dcterms:modified xsi:type="dcterms:W3CDTF">2026-03-30T01:52:22Z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